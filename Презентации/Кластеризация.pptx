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8" r:id="rId9"/>
    <p:sldId id="283" r:id="rId10"/>
    <p:sldId id="284" r:id="rId11"/>
    <p:sldId id="285" r:id="rId12"/>
    <p:sldId id="286" r:id="rId13"/>
    <p:sldId id="289" r:id="rId14"/>
    <p:sldId id="290" r:id="rId15"/>
    <p:sldId id="258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7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25C55C-6168-4BC0-980A-D54474BCEB6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03B8D-9AF0-4301-8401-4E06412F8E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080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5498F-8CBB-4569-AAF3-8C4279AB7A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50649E-75DF-47DA-9A4A-203E0529C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66885E12-E479-4306-A205-DBF0A017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F3CCE-1F47-4581-B757-A2CE726FA0D1}" type="datetime1">
              <a:rPr lang="ru-RU" smtClean="0"/>
              <a:t>22.02.2026</a:t>
            </a:fld>
            <a:endParaRPr lang="ru-RU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EADD3AA2-790A-42FC-BDE1-A22DE71F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8406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F9A829-C9B3-4640-ACE5-D0D966F6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92A877-005D-42DD-9D41-422DC4CBD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8945812-2B22-42EC-8EAD-6563D52B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D9421-9FA5-406F-8540-43848E155FE8}" type="datetime1">
              <a:rPr lang="ru-RU" smtClean="0"/>
              <a:t>22.02.2026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B300CAD-D6FD-4FF0-86F7-1F4BBEFB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9899AF4-C1BE-4734-8F00-8164D8BA0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AD19-4165-4509-BF39-8526BA53BDB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375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7E2749-8F89-4363-BC3C-F10EC4238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35F568-EB78-4630-B3E2-4915C89E9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8C76683-72C9-46D0-87A0-B9DA75766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32B4-1CD2-4C1A-843C-ED5C1EE28359}" type="datetime1">
              <a:rPr lang="ru-RU" smtClean="0"/>
              <a:t>22.02.2026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D25F3EE-E9B1-4C30-B722-1B7707A23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14C125-37F8-4DAF-9535-B8AE8E7FB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AD19-4165-4509-BF39-8526BA53BDB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963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479631C-8F8B-4497-9223-065EDCEF9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0017248-5611-454F-B207-2CF7E334F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6E41E2CE-8006-4C06-BCF4-C54E595C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7" name="Дата 16">
            <a:extLst>
              <a:ext uri="{FF2B5EF4-FFF2-40B4-BE49-F238E27FC236}">
                <a16:creationId xmlns:a16="http://schemas.microsoft.com/office/drawing/2014/main" id="{D229817C-0DE2-4629-9E35-5AEC37F1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5B2F3-0C9A-4D5B-8CB2-B692D7F69335}" type="datetime1">
              <a:rPr lang="ru-RU" smtClean="0"/>
              <a:t>22.02.2026</a:t>
            </a:fld>
            <a:endParaRPr lang="ru-RU" dirty="0"/>
          </a:p>
        </p:txBody>
      </p:sp>
      <p:sp>
        <p:nvSpPr>
          <p:cNvPr id="18" name="Нижний колонтитул 17">
            <a:extLst>
              <a:ext uri="{FF2B5EF4-FFF2-40B4-BE49-F238E27FC236}">
                <a16:creationId xmlns:a16="http://schemas.microsoft.com/office/drawing/2014/main" id="{DC57F5B1-4439-4D8D-B2AD-5E6EEC775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9" name="Номер слайда 18">
            <a:extLst>
              <a:ext uri="{FF2B5EF4-FFF2-40B4-BE49-F238E27FC236}">
                <a16:creationId xmlns:a16="http://schemas.microsoft.com/office/drawing/2014/main" id="{E90EE2AD-C328-4753-BB0E-1A3CD6223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266650"/>
            <a:ext cx="2743200" cy="365125"/>
          </a:xfrm>
        </p:spPr>
        <p:txBody>
          <a:bodyPr/>
          <a:lstStyle/>
          <a:p>
            <a:fld id="{8040AD19-4165-4509-BF39-8526BA53BDB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4197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5D18F9-DCFA-46D7-BC43-3F0808782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B948C4-922F-4038-B7AC-70C50D550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2CDA50-79F9-4F7D-A88C-CE323EF45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F7BCEE2-0831-4FA5-9E78-07051F96C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E1F560-4F34-407D-B0CC-0D996091E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4" name="Дата 13">
            <a:extLst>
              <a:ext uri="{FF2B5EF4-FFF2-40B4-BE49-F238E27FC236}">
                <a16:creationId xmlns:a16="http://schemas.microsoft.com/office/drawing/2014/main" id="{455B98FE-00E7-4491-B62F-9F63CBCF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048C-3F70-423D-95A7-4A649A85001A}" type="datetime1">
              <a:rPr lang="ru-RU" smtClean="0"/>
              <a:t>22.02.2026</a:t>
            </a:fld>
            <a:endParaRPr lang="ru-RU" dirty="0"/>
          </a:p>
        </p:txBody>
      </p:sp>
      <p:sp>
        <p:nvSpPr>
          <p:cNvPr id="15" name="Нижний колонтитул 14">
            <a:extLst>
              <a:ext uri="{FF2B5EF4-FFF2-40B4-BE49-F238E27FC236}">
                <a16:creationId xmlns:a16="http://schemas.microsoft.com/office/drawing/2014/main" id="{FA567B2E-8366-4773-92A6-32C9B419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5BADD90E-FEAB-4CC3-9BE9-8C3F3A4B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AD19-4165-4509-BF39-8526BA53BDB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1367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C42970-A275-4904-B675-653BB2E40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A14EA42-A8DF-43C8-B7A4-CD6D5977E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1C26D-2244-477B-B4A9-8B849EDAF85C}" type="datetime1">
              <a:rPr lang="ru-RU" smtClean="0"/>
              <a:t>22.02.2026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C12BC0ED-A9CD-4385-96D1-D65D2E092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DDA7F7B-091D-4550-B05D-C9905400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AD19-4165-4509-BF39-8526BA53BDB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1931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D0E75EEE-1C97-454F-B7FD-C7405E58A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4E8F-3F89-4252-B7CA-7C01D2808E95}" type="datetime1">
              <a:rPr lang="ru-RU" smtClean="0"/>
              <a:t>22.02.2026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48BCC1-2807-4226-B2BA-BDC4E35E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2D1418-9F3F-4EFA-B481-148CAF7D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AD19-4165-4509-BF39-8526BA53BDB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764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A03AC-4AEB-42A4-A20E-DB8DC1BCA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46E2CD-11D6-481A-84B4-F68D0A131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41B5C00-00D7-4C8E-BAC3-52D8F7740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9AA5DE97-E580-475A-9CF6-2C7D96491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392FC-DC15-4FDC-91F3-FC2B6DC46254}" type="datetime1">
              <a:rPr lang="ru-RU" smtClean="0"/>
              <a:t>22.02.2026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EBAA19F-CE4D-4ED3-AC86-F0D412854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6B7EA35D-3F28-4E59-A522-C52FA037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AD19-4165-4509-BF39-8526BA53BDB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1065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905F6-0DB7-4AD4-B997-5F878F34E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C0B2653-6269-4EF3-9E03-6BF95B139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54E7AA-5371-423B-9FF4-401321A3E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90EA639D-9257-4048-817E-A537B462B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FA54-E218-4671-B3D6-81793D25A93C}" type="datetime1">
              <a:rPr lang="ru-RU" smtClean="0"/>
              <a:t>22.02.2026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E433F7FF-18F3-4E0E-9694-F71A44576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138BD51D-3B91-4D19-8337-04636A9B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AD19-4165-4509-BF39-8526BA53BDB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3222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0B86B-C473-4154-8F5F-7AFF002D3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A709F1-FE7D-45B2-A485-A8BD10CE4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B4DB288-61B9-4D0B-9AD2-83AF4676A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1A428-0D75-4AFD-B946-7A90F414C501}" type="datetime1">
              <a:rPr lang="ru-RU" smtClean="0"/>
              <a:t>22.02.2026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550F1AE-7A3F-41EB-AB5D-C7EE2EAA0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C72700F-0A0C-4BC8-BF38-F498EB46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AD19-4165-4509-BF39-8526BA53BDB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2060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8CBAFA-4778-495F-8C91-0DBD71CFF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D39CE9-BFF5-4367-B98A-A3B215618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C29C009-7A40-43D2-B8DB-5F28B0A29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4BFD-7538-4AF3-B59B-B352765BC858}" type="datetime1">
              <a:rPr lang="ru-RU" smtClean="0"/>
              <a:t>22.02.2026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511B3B2-9A6D-4C89-9B64-6507792A3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C38EC32-AF37-4778-9D3D-C80DC6C4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0AD19-4165-4509-BF39-8526BA53BDB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373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560FF2-C69C-4E64-A7FD-82CFA5BA4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C0EE03-6958-4558-9EA0-3EE78A990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81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E0B322-B82C-421D-A21A-5E853595C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EFC6E-D73B-45BB-B6C5-4F3B61515CC6}" type="datetime1">
              <a:rPr lang="ru-RU" smtClean="0"/>
              <a:t>22.02.2026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0986EB-7066-486E-AE00-716F90811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5300" y="6356350"/>
            <a:ext cx="3238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A9C1EB-FDBF-4F61-8C92-0C08BD44D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127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 b="1">
                <a:solidFill>
                  <a:srgbClr val="017AC3"/>
                </a:solidFill>
              </a:defRPr>
            </a:lvl1pPr>
          </a:lstStyle>
          <a:p>
            <a:fld id="{8040AD19-4165-4509-BF39-8526BA53BDB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0141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gif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gif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CB273C-AF6F-4757-9CB8-5015459FA6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31"/>
          <a:stretch/>
        </p:blipFill>
        <p:spPr>
          <a:xfrm>
            <a:off x="0" y="0"/>
            <a:ext cx="12192000" cy="52578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A53E8C3-250B-49FE-BE8B-065D8B1380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7453" y="5671333"/>
            <a:ext cx="4557094" cy="82213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3D6824-1200-4536-91A6-93103584BB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Кластеризация: </a:t>
            </a:r>
            <a:r>
              <a:rPr lang="en-US" sz="4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K</a:t>
            </a:r>
            <a:r>
              <a:rPr lang="ru-RU" sz="4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4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Means, Agglomerative, DBSCAN</a:t>
            </a:r>
            <a:endParaRPr lang="ru-RU" sz="4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86010F-1F6E-4904-A97D-7406E7B2A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5496"/>
            <a:ext cx="9144000" cy="1655762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  <a:latin typeface="Century Gothic" panose="020B0502020202020204" pitchFamily="34" charset="0"/>
              </a:rPr>
              <a:t>Гамаюнов Никита, </a:t>
            </a:r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магистрант СГТУ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7D3400C-1BC6-431E-9C61-91A0113799D0}"/>
              </a:ext>
            </a:extLst>
          </p:cNvPr>
          <p:cNvSpPr/>
          <p:nvPr/>
        </p:nvSpPr>
        <p:spPr>
          <a:xfrm rot="16200000" flipV="1">
            <a:off x="7984576" y="6068147"/>
            <a:ext cx="256493" cy="46864"/>
          </a:xfrm>
          <a:prstGeom prst="rect">
            <a:avLst/>
          </a:prstGeom>
          <a:solidFill>
            <a:srgbClr val="017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312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logo_RUDN_eng.png">
            <a:extLst>
              <a:ext uri="{FF2B5EF4-FFF2-40B4-BE49-F238E27FC236}">
                <a16:creationId xmlns:a16="http://schemas.microsoft.com/office/drawing/2014/main" id="{6EDC7DA5-0F50-4D15-9915-D286BF434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728" y="6176963"/>
            <a:ext cx="1832570" cy="545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DF2E5A-2227-4E43-A290-63DAC6021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702" y="6168247"/>
            <a:ext cx="3236297" cy="5838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804C3D-76A0-40D8-AB21-A4C27FDA13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79"/>
          <a:stretch/>
        </p:blipFill>
        <p:spPr>
          <a:xfrm>
            <a:off x="0" y="-302896"/>
            <a:ext cx="12192000" cy="18256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9189B-B04E-434E-A449-DA2B238A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398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Кластеризация — обучение без учителя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AB11C68-B78C-4A4C-AAE5-90CE2E7B3ED6}"/>
              </a:ext>
            </a:extLst>
          </p:cNvPr>
          <p:cNvSpPr/>
          <p:nvPr/>
        </p:nvSpPr>
        <p:spPr>
          <a:xfrm flipV="1">
            <a:off x="3390900" y="6447390"/>
            <a:ext cx="6703061" cy="45719"/>
          </a:xfrm>
          <a:prstGeom prst="rect">
            <a:avLst/>
          </a:prstGeom>
          <a:solidFill>
            <a:srgbClr val="017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омер слайда 3">
            <a:extLst>
              <a:ext uri="{FF2B5EF4-FFF2-40B4-BE49-F238E27FC236}">
                <a16:creationId xmlns:a16="http://schemas.microsoft.com/office/drawing/2014/main" id="{C5DAC406-36EF-4279-A225-4D626A6A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9217" y="5840177"/>
            <a:ext cx="493566" cy="1214426"/>
          </a:xfrm>
          <a:solidFill>
            <a:schemeClr val="bg1"/>
          </a:solidFill>
        </p:spPr>
        <p:txBody>
          <a:bodyPr/>
          <a:lstStyle/>
          <a:p>
            <a:fld id="{8040AD19-4165-4509-BF39-8526BA53BDBC}" type="slidenum">
              <a:rPr lang="ru-RU" smtClean="0"/>
              <a:pPr/>
              <a:t>2</a:t>
            </a:fld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83E29FA-6586-4764-B175-A1DCC829E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36104"/>
            <a:ext cx="6679806" cy="3757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259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logo_RUDN_eng.png">
            <a:extLst>
              <a:ext uri="{FF2B5EF4-FFF2-40B4-BE49-F238E27FC236}">
                <a16:creationId xmlns:a16="http://schemas.microsoft.com/office/drawing/2014/main" id="{6EDC7DA5-0F50-4D15-9915-D286BF434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728" y="6176963"/>
            <a:ext cx="1832570" cy="545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DF2E5A-2227-4E43-A290-63DAC6021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702" y="6168247"/>
            <a:ext cx="3236297" cy="5838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804C3D-76A0-40D8-AB21-A4C27FDA13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79"/>
          <a:stretch/>
        </p:blipFill>
        <p:spPr>
          <a:xfrm>
            <a:off x="0" y="-302896"/>
            <a:ext cx="12192000" cy="18256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9189B-B04E-434E-A449-DA2B238A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398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Кластеризация — обучение без учителя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AB11C68-B78C-4A4C-AAE5-90CE2E7B3ED6}"/>
              </a:ext>
            </a:extLst>
          </p:cNvPr>
          <p:cNvSpPr/>
          <p:nvPr/>
        </p:nvSpPr>
        <p:spPr>
          <a:xfrm flipV="1">
            <a:off x="3390900" y="6447390"/>
            <a:ext cx="6703061" cy="45719"/>
          </a:xfrm>
          <a:prstGeom prst="rect">
            <a:avLst/>
          </a:prstGeom>
          <a:solidFill>
            <a:srgbClr val="017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омер слайда 3">
            <a:extLst>
              <a:ext uri="{FF2B5EF4-FFF2-40B4-BE49-F238E27FC236}">
                <a16:creationId xmlns:a16="http://schemas.microsoft.com/office/drawing/2014/main" id="{C5DAC406-36EF-4279-A225-4D626A6A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9217" y="5840177"/>
            <a:ext cx="493566" cy="1214426"/>
          </a:xfrm>
          <a:solidFill>
            <a:schemeClr val="bg1"/>
          </a:solidFill>
        </p:spPr>
        <p:txBody>
          <a:bodyPr/>
          <a:lstStyle/>
          <a:p>
            <a:fld id="{8040AD19-4165-4509-BF39-8526BA53BDBC}" type="slidenum">
              <a:rPr lang="ru-RU" smtClean="0"/>
              <a:pPr/>
              <a:t>3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369576B-51E1-42AD-B317-8A4AE33A4F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01" y="1679494"/>
            <a:ext cx="6769307" cy="44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91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logo_RUDN_eng.png">
            <a:extLst>
              <a:ext uri="{FF2B5EF4-FFF2-40B4-BE49-F238E27FC236}">
                <a16:creationId xmlns:a16="http://schemas.microsoft.com/office/drawing/2014/main" id="{6EDC7DA5-0F50-4D15-9915-D286BF434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728" y="6176963"/>
            <a:ext cx="1832570" cy="545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DF2E5A-2227-4E43-A290-63DAC6021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702" y="6168247"/>
            <a:ext cx="3236297" cy="5838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804C3D-76A0-40D8-AB21-A4C27FDA13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79"/>
          <a:stretch/>
        </p:blipFill>
        <p:spPr>
          <a:xfrm>
            <a:off x="0" y="-302896"/>
            <a:ext cx="12192000" cy="18256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9189B-B04E-434E-A449-DA2B238A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398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Что и зачем </a:t>
            </a:r>
            <a:r>
              <a:rPr lang="ru-RU" sz="36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кластеризовать</a:t>
            </a:r>
            <a:r>
              <a:rPr lang="ru-RU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?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AB11C68-B78C-4A4C-AAE5-90CE2E7B3ED6}"/>
              </a:ext>
            </a:extLst>
          </p:cNvPr>
          <p:cNvSpPr/>
          <p:nvPr/>
        </p:nvSpPr>
        <p:spPr>
          <a:xfrm flipV="1">
            <a:off x="3390900" y="6447390"/>
            <a:ext cx="6703061" cy="45719"/>
          </a:xfrm>
          <a:prstGeom prst="rect">
            <a:avLst/>
          </a:prstGeom>
          <a:solidFill>
            <a:srgbClr val="017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омер слайда 3">
            <a:extLst>
              <a:ext uri="{FF2B5EF4-FFF2-40B4-BE49-F238E27FC236}">
                <a16:creationId xmlns:a16="http://schemas.microsoft.com/office/drawing/2014/main" id="{C5DAC406-36EF-4279-A225-4D626A6A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9217" y="5840177"/>
            <a:ext cx="493566" cy="1214426"/>
          </a:xfrm>
          <a:solidFill>
            <a:schemeClr val="bg1"/>
          </a:solidFill>
        </p:spPr>
        <p:txBody>
          <a:bodyPr/>
          <a:lstStyle/>
          <a:p>
            <a:fld id="{8040AD19-4165-4509-BF39-8526BA53BDBC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E6D47-D89D-43A3-B4D2-469FA82C29A8}"/>
              </a:ext>
            </a:extLst>
          </p:cNvPr>
          <p:cNvSpPr txBox="1"/>
          <p:nvPr/>
        </p:nvSpPr>
        <p:spPr>
          <a:xfrm>
            <a:off x="838200" y="2340801"/>
            <a:ext cx="1062287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Клиентов для анализа поведения отдельных клиентских групп.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Конкурентов бизнеса для исследования рынка.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Заболевания для изучения статистики выздоровления.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Респондентов опроса для анализа мнений в разных группах людей.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SEO-ключи для формирования тематик страниц сайта.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Собранные файлы разных форматов для их удобной обработки.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215249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logo_RUDN_eng.png">
            <a:extLst>
              <a:ext uri="{FF2B5EF4-FFF2-40B4-BE49-F238E27FC236}">
                <a16:creationId xmlns:a16="http://schemas.microsoft.com/office/drawing/2014/main" id="{6EDC7DA5-0F50-4D15-9915-D286BF434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728" y="6176963"/>
            <a:ext cx="1832570" cy="545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DF2E5A-2227-4E43-A290-63DAC6021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702" y="6168247"/>
            <a:ext cx="3236297" cy="5838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804C3D-76A0-40D8-AB21-A4C27FDA13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79"/>
          <a:stretch/>
        </p:blipFill>
        <p:spPr>
          <a:xfrm>
            <a:off x="0" y="-302896"/>
            <a:ext cx="12192000" cy="18256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9189B-B04E-434E-A449-DA2B238A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39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K means</a:t>
            </a:r>
            <a:endParaRPr lang="ru-RU" sz="36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AB11C68-B78C-4A4C-AAE5-90CE2E7B3ED6}"/>
              </a:ext>
            </a:extLst>
          </p:cNvPr>
          <p:cNvSpPr/>
          <p:nvPr/>
        </p:nvSpPr>
        <p:spPr>
          <a:xfrm flipV="1">
            <a:off x="3390900" y="6447390"/>
            <a:ext cx="6703061" cy="45719"/>
          </a:xfrm>
          <a:prstGeom prst="rect">
            <a:avLst/>
          </a:prstGeom>
          <a:solidFill>
            <a:srgbClr val="017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омер слайда 3">
            <a:extLst>
              <a:ext uri="{FF2B5EF4-FFF2-40B4-BE49-F238E27FC236}">
                <a16:creationId xmlns:a16="http://schemas.microsoft.com/office/drawing/2014/main" id="{C5DAC406-36EF-4279-A225-4D626A6A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9217" y="5840177"/>
            <a:ext cx="493566" cy="1214426"/>
          </a:xfrm>
          <a:solidFill>
            <a:schemeClr val="bg1"/>
          </a:solidFill>
        </p:spPr>
        <p:txBody>
          <a:bodyPr/>
          <a:lstStyle/>
          <a:p>
            <a:fld id="{8040AD19-4165-4509-BF39-8526BA53BDBC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E6D47-D89D-43A3-B4D2-469FA82C29A8}"/>
              </a:ext>
            </a:extLst>
          </p:cNvPr>
          <p:cNvSpPr txBox="1"/>
          <p:nvPr/>
        </p:nvSpPr>
        <p:spPr>
          <a:xfrm>
            <a:off x="838200" y="2340801"/>
            <a:ext cx="56336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Выбираем </a:t>
            </a:r>
            <a:r>
              <a:rPr lang="en-US" dirty="0"/>
              <a:t>k </a:t>
            </a:r>
            <a:r>
              <a:rPr lang="ru-RU" dirty="0"/>
              <a:t>случайных точек – </a:t>
            </a:r>
            <a:r>
              <a:rPr lang="ru-RU" dirty="0" err="1"/>
              <a:t>центроидов</a:t>
            </a:r>
            <a:r>
              <a:rPr lang="ru-RU" dirty="0"/>
              <a:t>. Это временные центры кластеров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Относим каждый объект кластеру ближайшего </a:t>
            </a:r>
            <a:r>
              <a:rPr lang="ru-RU" dirty="0" err="1"/>
              <a:t>центроида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Переносим </a:t>
            </a:r>
            <a:r>
              <a:rPr lang="ru-RU" dirty="0" err="1"/>
              <a:t>центроиды</a:t>
            </a:r>
            <a:r>
              <a:rPr lang="ru-RU" dirty="0"/>
              <a:t> в среднюю точку объектов кластера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Повторяем 2. и 3., пока </a:t>
            </a:r>
            <a:r>
              <a:rPr lang="ru-RU" dirty="0" err="1"/>
              <a:t>центроиды</a:t>
            </a:r>
            <a:r>
              <a:rPr lang="ru-RU" dirty="0"/>
              <a:t> не перестанут двигаться или не достигнем максимума итераций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6C2C83-A7E3-4037-8941-442C16ACAD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51" y="2072154"/>
            <a:ext cx="41148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58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logo_RUDN_eng.png">
            <a:extLst>
              <a:ext uri="{FF2B5EF4-FFF2-40B4-BE49-F238E27FC236}">
                <a16:creationId xmlns:a16="http://schemas.microsoft.com/office/drawing/2014/main" id="{6EDC7DA5-0F50-4D15-9915-D286BF434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728" y="6176963"/>
            <a:ext cx="1832570" cy="545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DF2E5A-2227-4E43-A290-63DAC6021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702" y="6168247"/>
            <a:ext cx="3236297" cy="5838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804C3D-76A0-40D8-AB21-A4C27FDA13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79"/>
          <a:stretch/>
        </p:blipFill>
        <p:spPr>
          <a:xfrm>
            <a:off x="0" y="-302896"/>
            <a:ext cx="12192000" cy="18256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9189B-B04E-434E-A449-DA2B238A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39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K means</a:t>
            </a:r>
            <a:r>
              <a:rPr lang="ru-RU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: минусы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AB11C68-B78C-4A4C-AAE5-90CE2E7B3ED6}"/>
              </a:ext>
            </a:extLst>
          </p:cNvPr>
          <p:cNvSpPr/>
          <p:nvPr/>
        </p:nvSpPr>
        <p:spPr>
          <a:xfrm flipV="1">
            <a:off x="3390900" y="6447390"/>
            <a:ext cx="6703061" cy="45719"/>
          </a:xfrm>
          <a:prstGeom prst="rect">
            <a:avLst/>
          </a:prstGeom>
          <a:solidFill>
            <a:srgbClr val="017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омер слайда 3">
            <a:extLst>
              <a:ext uri="{FF2B5EF4-FFF2-40B4-BE49-F238E27FC236}">
                <a16:creationId xmlns:a16="http://schemas.microsoft.com/office/drawing/2014/main" id="{C5DAC406-36EF-4279-A225-4D626A6A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9217" y="5840177"/>
            <a:ext cx="493566" cy="1214426"/>
          </a:xfrm>
          <a:solidFill>
            <a:schemeClr val="bg1"/>
          </a:solidFill>
        </p:spPr>
        <p:txBody>
          <a:bodyPr/>
          <a:lstStyle/>
          <a:p>
            <a:fld id="{8040AD19-4165-4509-BF39-8526BA53BDBC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E6D47-D89D-43A3-B4D2-469FA82C29A8}"/>
              </a:ext>
            </a:extLst>
          </p:cNvPr>
          <p:cNvSpPr txBox="1"/>
          <p:nvPr/>
        </p:nvSpPr>
        <p:spPr>
          <a:xfrm>
            <a:off x="838200" y="2905082"/>
            <a:ext cx="56336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Зависимость от</a:t>
            </a:r>
            <a:r>
              <a:rPr lang="en-US" dirty="0"/>
              <a:t> </a:t>
            </a:r>
            <a:r>
              <a:rPr lang="ru-RU" dirty="0"/>
              <a:t>выбора </a:t>
            </a:r>
            <a:r>
              <a:rPr lang="en-US" dirty="0"/>
              <a:t>k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Чувствительность к начальной инициализации </a:t>
            </a:r>
            <a:r>
              <a:rPr lang="ru-RU" dirty="0" err="1"/>
              <a:t>центроидов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Плохо переносит выбросы и нелинейности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подходит для категориальных данных без предварительного преобразования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6C2C83-A7E3-4037-8941-442C16ACAD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151" y="2072154"/>
            <a:ext cx="41148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697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logo_RUDN_eng.png">
            <a:extLst>
              <a:ext uri="{FF2B5EF4-FFF2-40B4-BE49-F238E27FC236}">
                <a16:creationId xmlns:a16="http://schemas.microsoft.com/office/drawing/2014/main" id="{6EDC7DA5-0F50-4D15-9915-D286BF434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728" y="6176963"/>
            <a:ext cx="1832570" cy="545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DF2E5A-2227-4E43-A290-63DAC6021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702" y="6168247"/>
            <a:ext cx="3236297" cy="5838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804C3D-76A0-40D8-AB21-A4C27FDA13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79"/>
          <a:stretch/>
        </p:blipFill>
        <p:spPr>
          <a:xfrm>
            <a:off x="0" y="-302896"/>
            <a:ext cx="12192000" cy="18256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9189B-B04E-434E-A449-DA2B238A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398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Метод локтя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AB11C68-B78C-4A4C-AAE5-90CE2E7B3ED6}"/>
              </a:ext>
            </a:extLst>
          </p:cNvPr>
          <p:cNvSpPr/>
          <p:nvPr/>
        </p:nvSpPr>
        <p:spPr>
          <a:xfrm flipV="1">
            <a:off x="3390900" y="6447390"/>
            <a:ext cx="6703061" cy="45719"/>
          </a:xfrm>
          <a:prstGeom prst="rect">
            <a:avLst/>
          </a:prstGeom>
          <a:solidFill>
            <a:srgbClr val="017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омер слайда 3">
            <a:extLst>
              <a:ext uri="{FF2B5EF4-FFF2-40B4-BE49-F238E27FC236}">
                <a16:creationId xmlns:a16="http://schemas.microsoft.com/office/drawing/2014/main" id="{C5DAC406-36EF-4279-A225-4D626A6A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9217" y="5840177"/>
            <a:ext cx="493566" cy="1214426"/>
          </a:xfrm>
          <a:solidFill>
            <a:schemeClr val="bg1"/>
          </a:solidFill>
        </p:spPr>
        <p:txBody>
          <a:bodyPr/>
          <a:lstStyle/>
          <a:p>
            <a:fld id="{8040AD19-4165-4509-BF39-8526BA53BDBC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0B22346-AAE5-4419-8440-5F42F67CE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60955"/>
            <a:ext cx="6373427" cy="438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00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logo_RUDN_eng.png">
            <a:extLst>
              <a:ext uri="{FF2B5EF4-FFF2-40B4-BE49-F238E27FC236}">
                <a16:creationId xmlns:a16="http://schemas.microsoft.com/office/drawing/2014/main" id="{6EDC7DA5-0F50-4D15-9915-D286BF434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728" y="6176963"/>
            <a:ext cx="1832570" cy="545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DF2E5A-2227-4E43-A290-63DAC6021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702" y="6168247"/>
            <a:ext cx="3236297" cy="5838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804C3D-76A0-40D8-AB21-A4C27FDA13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79"/>
          <a:stretch/>
        </p:blipFill>
        <p:spPr>
          <a:xfrm>
            <a:off x="0" y="-302896"/>
            <a:ext cx="12192000" cy="18256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9189B-B04E-434E-A449-DA2B238A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398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Что и зачем </a:t>
            </a:r>
            <a:r>
              <a:rPr lang="ru-RU" sz="36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кластеризовать</a:t>
            </a:r>
            <a:r>
              <a:rPr lang="ru-RU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?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AB11C68-B78C-4A4C-AAE5-90CE2E7B3ED6}"/>
              </a:ext>
            </a:extLst>
          </p:cNvPr>
          <p:cNvSpPr/>
          <p:nvPr/>
        </p:nvSpPr>
        <p:spPr>
          <a:xfrm flipV="1">
            <a:off x="3390900" y="6447390"/>
            <a:ext cx="6703061" cy="45719"/>
          </a:xfrm>
          <a:prstGeom prst="rect">
            <a:avLst/>
          </a:prstGeom>
          <a:solidFill>
            <a:srgbClr val="017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омер слайда 3">
            <a:extLst>
              <a:ext uri="{FF2B5EF4-FFF2-40B4-BE49-F238E27FC236}">
                <a16:creationId xmlns:a16="http://schemas.microsoft.com/office/drawing/2014/main" id="{C5DAC406-36EF-4279-A225-4D626A6A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9217" y="5840177"/>
            <a:ext cx="493566" cy="1214426"/>
          </a:xfrm>
          <a:solidFill>
            <a:schemeClr val="bg1"/>
          </a:solidFill>
        </p:spPr>
        <p:txBody>
          <a:bodyPr/>
          <a:lstStyle/>
          <a:p>
            <a:fld id="{8040AD19-4165-4509-BF39-8526BA53BDBC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E6D47-D89D-43A3-B4D2-469FA82C29A8}"/>
              </a:ext>
            </a:extLst>
          </p:cNvPr>
          <p:cNvSpPr txBox="1"/>
          <p:nvPr/>
        </p:nvSpPr>
        <p:spPr>
          <a:xfrm>
            <a:off x="838200" y="2340801"/>
            <a:ext cx="1062287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Клиентов для анализа поведения отдельных клиентских групп.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Конкурентов бизнеса для исследования рынка.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Заболевания для изучения статистики выздоровления.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Респондентов опроса для анализа мнений в разных группах людей.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SEO-ключи для формирования тематик страниц сайта.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Собранные файлы разных форматов для их удобной обработки.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2712058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logo_RUDN_eng.png">
            <a:extLst>
              <a:ext uri="{FF2B5EF4-FFF2-40B4-BE49-F238E27FC236}">
                <a16:creationId xmlns:a16="http://schemas.microsoft.com/office/drawing/2014/main" id="{6EDC7DA5-0F50-4D15-9915-D286BF434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728" y="6176963"/>
            <a:ext cx="1832570" cy="545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DF2E5A-2227-4E43-A290-63DAC6021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702" y="6168247"/>
            <a:ext cx="3236297" cy="5838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804C3D-76A0-40D8-AB21-A4C27FDA13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79"/>
          <a:stretch/>
        </p:blipFill>
        <p:spPr>
          <a:xfrm>
            <a:off x="0" y="-302896"/>
            <a:ext cx="12192000" cy="18256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9189B-B04E-434E-A449-DA2B238A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398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Метод силуэта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AB11C68-B78C-4A4C-AAE5-90CE2E7B3ED6}"/>
              </a:ext>
            </a:extLst>
          </p:cNvPr>
          <p:cNvSpPr/>
          <p:nvPr/>
        </p:nvSpPr>
        <p:spPr>
          <a:xfrm flipV="1">
            <a:off x="3390900" y="6447390"/>
            <a:ext cx="6703061" cy="45719"/>
          </a:xfrm>
          <a:prstGeom prst="rect">
            <a:avLst/>
          </a:prstGeom>
          <a:solidFill>
            <a:srgbClr val="017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омер слайда 3">
            <a:extLst>
              <a:ext uri="{FF2B5EF4-FFF2-40B4-BE49-F238E27FC236}">
                <a16:creationId xmlns:a16="http://schemas.microsoft.com/office/drawing/2014/main" id="{C5DAC406-36EF-4279-A225-4D626A6A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9217" y="5840177"/>
            <a:ext cx="493566" cy="1214426"/>
          </a:xfrm>
          <a:solidFill>
            <a:schemeClr val="bg1"/>
          </a:solidFill>
        </p:spPr>
        <p:txBody>
          <a:bodyPr/>
          <a:lstStyle/>
          <a:p>
            <a:fld id="{8040AD19-4165-4509-BF39-8526BA53BDBC}" type="slidenum">
              <a:rPr lang="ru-RU" smtClean="0"/>
              <a:pPr/>
              <a:t>9</a:t>
            </a:fld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C951E56-12BB-4B78-8261-D40EB89A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27" y="2012056"/>
            <a:ext cx="5109746" cy="382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706CCD-3190-44B7-9AE2-94BD91DCC868}"/>
                  </a:ext>
                </a:extLst>
              </p:cNvPr>
              <p:cNvSpPr txBox="1"/>
              <p:nvPr/>
            </p:nvSpPr>
            <p:spPr>
              <a:xfrm>
                <a:off x="7539643" y="2530361"/>
                <a:ext cx="1913088" cy="7667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706CCD-3190-44B7-9AE2-94BD91DCC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643" y="2530361"/>
                <a:ext cx="1913088" cy="7667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460C5B4-0E3B-41AE-97F2-F681B433C5F7}"/>
              </a:ext>
            </a:extLst>
          </p:cNvPr>
          <p:cNvSpPr txBox="1"/>
          <p:nvPr/>
        </p:nvSpPr>
        <p:spPr>
          <a:xfrm>
            <a:off x="5945773" y="3562986"/>
            <a:ext cx="59687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/>
              <a:t>a — среднее расстояние между образцом и всеми другими точками в том же классе;</a:t>
            </a:r>
          </a:p>
          <a:p>
            <a:endParaRPr lang="ru-RU"/>
          </a:p>
          <a:p>
            <a:r>
              <a:rPr lang="ru-RU"/>
              <a:t>b — среднее расстояние между образцом и всеми другими точками в следующем ближайшем кластере.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9138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logo_RUDN_eng.png">
            <a:extLst>
              <a:ext uri="{FF2B5EF4-FFF2-40B4-BE49-F238E27FC236}">
                <a16:creationId xmlns:a16="http://schemas.microsoft.com/office/drawing/2014/main" id="{6EDC7DA5-0F50-4D15-9915-D286BF434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728" y="6176963"/>
            <a:ext cx="1832570" cy="545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DF2E5A-2227-4E43-A290-63DAC6021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702" y="6168247"/>
            <a:ext cx="3236297" cy="5838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804C3D-76A0-40D8-AB21-A4C27FDA13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79"/>
          <a:stretch/>
        </p:blipFill>
        <p:spPr>
          <a:xfrm>
            <a:off x="0" y="-302896"/>
            <a:ext cx="12192000" cy="18256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9189B-B04E-434E-A449-DA2B238A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398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Иерархическая кластеризация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AB11C68-B78C-4A4C-AAE5-90CE2E7B3ED6}"/>
              </a:ext>
            </a:extLst>
          </p:cNvPr>
          <p:cNvSpPr/>
          <p:nvPr/>
        </p:nvSpPr>
        <p:spPr>
          <a:xfrm flipV="1">
            <a:off x="3390900" y="6447390"/>
            <a:ext cx="6703061" cy="45719"/>
          </a:xfrm>
          <a:prstGeom prst="rect">
            <a:avLst/>
          </a:prstGeom>
          <a:solidFill>
            <a:srgbClr val="017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омер слайда 3">
            <a:extLst>
              <a:ext uri="{FF2B5EF4-FFF2-40B4-BE49-F238E27FC236}">
                <a16:creationId xmlns:a16="http://schemas.microsoft.com/office/drawing/2014/main" id="{C5DAC406-36EF-4279-A225-4D626A6A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9217" y="5840177"/>
            <a:ext cx="493566" cy="1214426"/>
          </a:xfrm>
          <a:solidFill>
            <a:schemeClr val="bg1"/>
          </a:solidFill>
        </p:spPr>
        <p:txBody>
          <a:bodyPr/>
          <a:lstStyle/>
          <a:p>
            <a:fld id="{8040AD19-4165-4509-BF39-8526BA53BDBC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93B6465-9027-4E6A-83B0-DD1BDD979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720305"/>
            <a:ext cx="8158579" cy="429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292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logo_RUDN_eng.png">
            <a:extLst>
              <a:ext uri="{FF2B5EF4-FFF2-40B4-BE49-F238E27FC236}">
                <a16:creationId xmlns:a16="http://schemas.microsoft.com/office/drawing/2014/main" id="{6EDC7DA5-0F50-4D15-9915-D286BF434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728" y="6176963"/>
            <a:ext cx="1832570" cy="545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DF2E5A-2227-4E43-A290-63DAC6021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702" y="6168247"/>
            <a:ext cx="3236297" cy="5838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804C3D-76A0-40D8-AB21-A4C27FDA13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79"/>
          <a:stretch/>
        </p:blipFill>
        <p:spPr>
          <a:xfrm>
            <a:off x="0" y="-302896"/>
            <a:ext cx="12192000" cy="18256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9189B-B04E-434E-A449-DA2B238A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398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Порисуем тут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AB11C68-B78C-4A4C-AAE5-90CE2E7B3ED6}"/>
              </a:ext>
            </a:extLst>
          </p:cNvPr>
          <p:cNvSpPr/>
          <p:nvPr/>
        </p:nvSpPr>
        <p:spPr>
          <a:xfrm flipV="1">
            <a:off x="3390900" y="6447390"/>
            <a:ext cx="6703061" cy="45719"/>
          </a:xfrm>
          <a:prstGeom prst="rect">
            <a:avLst/>
          </a:prstGeom>
          <a:solidFill>
            <a:srgbClr val="017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омер слайда 3">
            <a:extLst>
              <a:ext uri="{FF2B5EF4-FFF2-40B4-BE49-F238E27FC236}">
                <a16:creationId xmlns:a16="http://schemas.microsoft.com/office/drawing/2014/main" id="{C5DAC406-36EF-4279-A225-4D626A6A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9217" y="5840177"/>
            <a:ext cx="493566" cy="1214426"/>
          </a:xfrm>
          <a:solidFill>
            <a:schemeClr val="bg1"/>
          </a:solidFill>
        </p:spPr>
        <p:txBody>
          <a:bodyPr/>
          <a:lstStyle/>
          <a:p>
            <a:fld id="{8040AD19-4165-4509-BF39-8526BA53BDBC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4380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logo_RUDN_eng.png">
            <a:extLst>
              <a:ext uri="{FF2B5EF4-FFF2-40B4-BE49-F238E27FC236}">
                <a16:creationId xmlns:a16="http://schemas.microsoft.com/office/drawing/2014/main" id="{6EDC7DA5-0F50-4D15-9915-D286BF434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728" y="6176963"/>
            <a:ext cx="1832570" cy="545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DF2E5A-2227-4E43-A290-63DAC6021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702" y="6168247"/>
            <a:ext cx="3236297" cy="5838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804C3D-76A0-40D8-AB21-A4C27FDA13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79"/>
          <a:stretch/>
        </p:blipFill>
        <p:spPr>
          <a:xfrm>
            <a:off x="0" y="-302896"/>
            <a:ext cx="12192000" cy="18256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9189B-B04E-434E-A449-DA2B238A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398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Дендрограмма</a:t>
            </a:r>
            <a:endParaRPr lang="ru-RU" sz="36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AB11C68-B78C-4A4C-AAE5-90CE2E7B3ED6}"/>
              </a:ext>
            </a:extLst>
          </p:cNvPr>
          <p:cNvSpPr/>
          <p:nvPr/>
        </p:nvSpPr>
        <p:spPr>
          <a:xfrm flipV="1">
            <a:off x="3390900" y="6447390"/>
            <a:ext cx="6703061" cy="45719"/>
          </a:xfrm>
          <a:prstGeom prst="rect">
            <a:avLst/>
          </a:prstGeom>
          <a:solidFill>
            <a:srgbClr val="017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омер слайда 3">
            <a:extLst>
              <a:ext uri="{FF2B5EF4-FFF2-40B4-BE49-F238E27FC236}">
                <a16:creationId xmlns:a16="http://schemas.microsoft.com/office/drawing/2014/main" id="{C5DAC406-36EF-4279-A225-4D626A6A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9217" y="5840177"/>
            <a:ext cx="493566" cy="1214426"/>
          </a:xfrm>
          <a:solidFill>
            <a:schemeClr val="bg1"/>
          </a:solidFill>
        </p:spPr>
        <p:txBody>
          <a:bodyPr/>
          <a:lstStyle/>
          <a:p>
            <a:fld id="{8040AD19-4165-4509-BF39-8526BA53BDBC}" type="slidenum">
              <a:rPr lang="ru-RU" smtClean="0"/>
              <a:pPr/>
              <a:t>12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2AA2A4-B1CC-4C79-B5C5-525A44A7E4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767481"/>
            <a:ext cx="7489054" cy="415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81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logo_RUDN_eng.png">
            <a:extLst>
              <a:ext uri="{FF2B5EF4-FFF2-40B4-BE49-F238E27FC236}">
                <a16:creationId xmlns:a16="http://schemas.microsoft.com/office/drawing/2014/main" id="{6EDC7DA5-0F50-4D15-9915-D286BF434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728" y="6176963"/>
            <a:ext cx="1832570" cy="545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DF2E5A-2227-4E43-A290-63DAC6021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702" y="6168247"/>
            <a:ext cx="3236297" cy="5838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804C3D-76A0-40D8-AB21-A4C27FDA13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79"/>
          <a:stretch/>
        </p:blipFill>
        <p:spPr>
          <a:xfrm>
            <a:off x="0" y="-302896"/>
            <a:ext cx="12192000" cy="18256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9189B-B04E-434E-A449-DA2B238A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39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DBSCAN</a:t>
            </a:r>
            <a:endParaRPr lang="ru-RU" sz="36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AB11C68-B78C-4A4C-AAE5-90CE2E7B3ED6}"/>
              </a:ext>
            </a:extLst>
          </p:cNvPr>
          <p:cNvSpPr/>
          <p:nvPr/>
        </p:nvSpPr>
        <p:spPr>
          <a:xfrm flipV="1">
            <a:off x="3390900" y="6447390"/>
            <a:ext cx="6703061" cy="45719"/>
          </a:xfrm>
          <a:prstGeom prst="rect">
            <a:avLst/>
          </a:prstGeom>
          <a:solidFill>
            <a:srgbClr val="017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омер слайда 3">
            <a:extLst>
              <a:ext uri="{FF2B5EF4-FFF2-40B4-BE49-F238E27FC236}">
                <a16:creationId xmlns:a16="http://schemas.microsoft.com/office/drawing/2014/main" id="{C5DAC406-36EF-4279-A225-4D626A6A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9217" y="5840177"/>
            <a:ext cx="493566" cy="1214426"/>
          </a:xfrm>
          <a:solidFill>
            <a:schemeClr val="bg1"/>
          </a:solidFill>
        </p:spPr>
        <p:txBody>
          <a:bodyPr/>
          <a:lstStyle/>
          <a:p>
            <a:fld id="{8040AD19-4165-4509-BF39-8526BA53BDBC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E6D47-D89D-43A3-B4D2-469FA82C29A8}"/>
              </a:ext>
            </a:extLst>
          </p:cNvPr>
          <p:cNvSpPr txBox="1"/>
          <p:nvPr/>
        </p:nvSpPr>
        <p:spPr>
          <a:xfrm>
            <a:off x="784563" y="1902509"/>
            <a:ext cx="85991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Вводим эпсилон-окрестность</a:t>
            </a:r>
          </a:p>
          <a:p>
            <a:r>
              <a:rPr lang="ru-RU" sz="2400" dirty="0"/>
              <a:t>Типы элементов в кластерах: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Ядро (в окрестности больше </a:t>
            </a:r>
            <a:r>
              <a:rPr lang="en-US" sz="2400" dirty="0"/>
              <a:t>n </a:t>
            </a:r>
            <a:r>
              <a:rPr lang="ru-RU" sz="2400" dirty="0"/>
              <a:t>других элементов)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Граничный элемент (лежит в окрестности ядра)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Шумовой элемент</a:t>
            </a:r>
          </a:p>
        </p:txBody>
      </p:sp>
    </p:spTree>
    <p:extLst>
      <p:ext uri="{BB962C8B-B14F-4D97-AF65-F5344CB8AC3E}">
        <p14:creationId xmlns:p14="http://schemas.microsoft.com/office/powerpoint/2010/main" val="1397861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logo_RUDN_eng.png">
            <a:extLst>
              <a:ext uri="{FF2B5EF4-FFF2-40B4-BE49-F238E27FC236}">
                <a16:creationId xmlns:a16="http://schemas.microsoft.com/office/drawing/2014/main" id="{6EDC7DA5-0F50-4D15-9915-D286BF434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728" y="6176963"/>
            <a:ext cx="1832570" cy="545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DF2E5A-2227-4E43-A290-63DAC6021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702" y="6168247"/>
            <a:ext cx="3236297" cy="5838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804C3D-76A0-40D8-AB21-A4C27FDA13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79"/>
          <a:stretch/>
        </p:blipFill>
        <p:spPr>
          <a:xfrm>
            <a:off x="0" y="-302896"/>
            <a:ext cx="12192000" cy="18256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9189B-B04E-434E-A449-DA2B238A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39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DBSCAN</a:t>
            </a:r>
            <a:endParaRPr lang="ru-RU" sz="36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AB11C68-B78C-4A4C-AAE5-90CE2E7B3ED6}"/>
              </a:ext>
            </a:extLst>
          </p:cNvPr>
          <p:cNvSpPr/>
          <p:nvPr/>
        </p:nvSpPr>
        <p:spPr>
          <a:xfrm flipV="1">
            <a:off x="3390900" y="6447390"/>
            <a:ext cx="6703061" cy="45719"/>
          </a:xfrm>
          <a:prstGeom prst="rect">
            <a:avLst/>
          </a:prstGeom>
          <a:solidFill>
            <a:srgbClr val="017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омер слайда 3">
            <a:extLst>
              <a:ext uri="{FF2B5EF4-FFF2-40B4-BE49-F238E27FC236}">
                <a16:creationId xmlns:a16="http://schemas.microsoft.com/office/drawing/2014/main" id="{C5DAC406-36EF-4279-A225-4D626A6A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9217" y="5840177"/>
            <a:ext cx="493566" cy="1214426"/>
          </a:xfrm>
          <a:solidFill>
            <a:schemeClr val="bg1"/>
          </a:solidFill>
        </p:spPr>
        <p:txBody>
          <a:bodyPr/>
          <a:lstStyle/>
          <a:p>
            <a:fld id="{8040AD19-4165-4509-BF39-8526BA53BDBC}" type="slidenum">
              <a:rPr lang="ru-RU" smtClean="0"/>
              <a:pPr/>
              <a:t>14</a:t>
            </a:fld>
            <a:endParaRPr lang="ru-RU" dirty="0"/>
          </a:p>
        </p:txBody>
      </p:sp>
      <p:pic>
        <p:nvPicPr>
          <p:cNvPr id="10" name="Picture 2" descr="undefined">
            <a:extLst>
              <a:ext uri="{FF2B5EF4-FFF2-40B4-BE49-F238E27FC236}">
                <a16:creationId xmlns:a16="http://schemas.microsoft.com/office/drawing/2014/main" id="{B74EE3F2-7740-4B85-A397-00AC3A5FD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96018"/>
            <a:ext cx="5382798" cy="388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091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CB273C-AF6F-4757-9CB8-5015459FA6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31"/>
          <a:stretch/>
        </p:blipFill>
        <p:spPr>
          <a:xfrm>
            <a:off x="0" y="0"/>
            <a:ext cx="12192000" cy="52578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3D6824-1200-4536-91A6-93103584B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78480"/>
            <a:ext cx="9144000" cy="909320"/>
          </a:xfrm>
        </p:spPr>
        <p:txBody>
          <a:bodyPr>
            <a:noAutofit/>
          </a:bodyPr>
          <a:lstStyle/>
          <a:p>
            <a:r>
              <a:rPr lang="ru-RU" sz="5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Спасибо за внимание!</a:t>
            </a:r>
          </a:p>
        </p:txBody>
      </p:sp>
      <p:pic>
        <p:nvPicPr>
          <p:cNvPr id="6" name="Picture 3" descr="logo_RUDN_eng.png">
            <a:extLst>
              <a:ext uri="{FF2B5EF4-FFF2-40B4-BE49-F238E27FC236}">
                <a16:creationId xmlns:a16="http://schemas.microsoft.com/office/drawing/2014/main" id="{051D455E-68BA-45B6-9A8B-042CE146C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870" y="5671333"/>
            <a:ext cx="2651422" cy="78884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A53E8C3-250B-49FE-BE8B-065D8B1380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8710" y="5671333"/>
            <a:ext cx="4557094" cy="8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8816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Object detection история развития и архитектуры</Template>
  <TotalTime>74</TotalTime>
  <Words>280</Words>
  <Application>Microsoft Office PowerPoint</Application>
  <PresentationFormat>Широкоэкранный</PresentationFormat>
  <Paragraphs>58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Century Gothic</vt:lpstr>
      <vt:lpstr>Тема Office</vt:lpstr>
      <vt:lpstr>Кластеризация: K Means, Agglomerative, DBSCAN</vt:lpstr>
      <vt:lpstr>Кластеризация — обучение без учителя</vt:lpstr>
      <vt:lpstr>Кластеризация — обучение без учителя</vt:lpstr>
      <vt:lpstr>Что и зачем кластеризовать?</vt:lpstr>
      <vt:lpstr>K means</vt:lpstr>
      <vt:lpstr>K means: минусы</vt:lpstr>
      <vt:lpstr>Метод локтя</vt:lpstr>
      <vt:lpstr>Что и зачем кластеризовать?</vt:lpstr>
      <vt:lpstr>Метод силуэта</vt:lpstr>
      <vt:lpstr>Иерархическая кластеризация</vt:lpstr>
      <vt:lpstr>Порисуем тут</vt:lpstr>
      <vt:lpstr>Дендрограмма</vt:lpstr>
      <vt:lpstr>DBSCAN</vt:lpstr>
      <vt:lpstr>DBSCAN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Кластеризация: K Means, Agglomerative, DBSCAN</dc:title>
  <dc:creator>Гамаюнов Никита Ефимович</dc:creator>
  <cp:lastModifiedBy>Гамаюнов Никита Ефимович</cp:lastModifiedBy>
  <cp:revision>2</cp:revision>
  <dcterms:created xsi:type="dcterms:W3CDTF">2026-02-21T20:41:30Z</dcterms:created>
  <dcterms:modified xsi:type="dcterms:W3CDTF">2026-02-22T06:20:56Z</dcterms:modified>
</cp:coreProperties>
</file>